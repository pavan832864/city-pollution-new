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5212080"/>
            <a:ext cx="548640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7" y="4846320"/>
            <a:ext cx="548640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99616" y="4480560"/>
            <a:ext cx="548640" cy="1828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57984" y="4114800"/>
            <a:ext cx="548640" cy="21945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6352" y="5212080"/>
            <a:ext cx="548640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4846320"/>
            <a:ext cx="548640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8" y="4480560"/>
            <a:ext cx="548640" cy="1828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91456" y="4114800"/>
            <a:ext cx="548640" cy="21945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49824" y="5212080"/>
            <a:ext cx="548640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4846320"/>
            <a:ext cx="548640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59" y="4480560"/>
            <a:ext cx="548640" cy="1828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4114800"/>
            <a:ext cx="548640" cy="21945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5212080"/>
            <a:ext cx="548640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41663" y="4846320"/>
            <a:ext cx="548640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00032" y="4480560"/>
            <a:ext cx="548640" cy="1828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399" y="4114800"/>
            <a:ext cx="548640" cy="21945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16767" y="5212080"/>
            <a:ext cx="548640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75136" y="4846320"/>
            <a:ext cx="548640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7BC62"/>
                </a:solidFill>
                <a:latin typeface="Consolas"/>
              </a:rPr>
              <a:t>H9FECC · Fog and Edge Computing · CA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28016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Palatino"/>
              </a:rPr>
              <a:t>Smart City Pollution 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97BC62"/>
                </a:solidFill>
                <a:latin typeface="Georgia"/>
              </a:rPr>
              <a:t>Fog-enabled AQI analytics with a serverless AWS backend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474720"/>
            <a:ext cx="5029200" cy="1463040"/>
          </a:xfrm>
          <a:prstGeom prst="roundRect">
            <a:avLst/>
          </a:prstGeom>
          <a:solidFill>
            <a:srgbClr val="2C5F2D"/>
          </a:solidFill>
          <a:ln w="1524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7BC62"/>
                </a:solidFill>
                <a:latin typeface="Calibri"/>
              </a:rPr>
              <a:t>PRESENTER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233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alatino"/>
              </a:rPr>
              <a:t>Pavan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7BC62"/>
                </a:solidFill>
                <a:latin typeface="Calibri"/>
              </a:rPr>
              <a:t>MSc in Cloud Computing, NCI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474720"/>
            <a:ext cx="5029200" cy="1463040"/>
          </a:xfrm>
          <a:prstGeom prst="roundRect">
            <a:avLst/>
          </a:prstGeom>
          <a:solidFill>
            <a:srgbClr val="14210C"/>
          </a:solidFill>
          <a:ln w="15240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8E00"/>
                </a:solidFill>
                <a:latin typeface="Calibri"/>
              </a:rPr>
              <a:t>FIVE POLLUTANTS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alatino"/>
              </a:rPr>
              <a:t>PM₂.₅  ·  PM₁₀  ·  NO₂  ·  CO  ·  O₃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alatino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F2A1E"/>
                </a:solidFill>
                <a:latin typeface="Georgia"/>
              </a:rPr>
              <a:t>Urban air quality varies block by block — a cloud-only design is both slow and wasteful.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6616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0" b="1" i="0">
                <a:solidFill>
                  <a:srgbClr val="2C5F2D"/>
                </a:solidFill>
                <a:latin typeface="Palatino"/>
              </a:rPr>
              <a:t>60 %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A1E"/>
                </a:solidFill>
                <a:latin typeface="Calibri"/>
              </a:rPr>
              <a:t>Reduction in bytes shipped to cloud when AQI is computed at the 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356616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33172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0" b="1" i="0">
                <a:solidFill>
                  <a:srgbClr val="2C5F2D"/>
                </a:solidFill>
                <a:latin typeface="Palatino"/>
              </a:rPr>
              <a:t>2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657600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A1E"/>
                </a:solidFill>
                <a:latin typeface="Calibri"/>
              </a:rPr>
              <a:t>Local dashboard update via Server-Sent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103120"/>
            <a:ext cx="356616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200" b="1" i="0">
                <a:solidFill>
                  <a:srgbClr val="2C5F2D"/>
                </a:solidFill>
                <a:latin typeface="Palati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657600"/>
            <a:ext cx="3200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1F2A1E"/>
                </a:solidFill>
                <a:latin typeface="Calibri"/>
              </a:rPr>
              <a:t>Sensor readings dropped under injected DynamoDB throttling.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52160"/>
            <a:ext cx="10972800" cy="685800"/>
          </a:xfrm>
          <a:prstGeom prst="roundRect">
            <a:avLst/>
          </a:prstGeom>
          <a:solidFill>
            <a:srgbClr val="1F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97BC62"/>
                </a:solidFill>
                <a:latin typeface="Georgia"/>
              </a:rPr>
              <a:t>Moving analytics to the fog layer is the dominant design lever.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alatino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74320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C5F2D"/>
                </a:solidFill>
                <a:latin typeface="Calibri"/>
              </a:rPr>
              <a:t>SENSOR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286000" cy="73152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"/>
              </a:rPr>
              <a:t>PM₂.₅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2286000" cy="73152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"/>
              </a:rPr>
              <a:t>PM₁₀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2286000" cy="73152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"/>
              </a:rPr>
              <a:t>NO₂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26279"/>
            <a:ext cx="2286000" cy="73152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79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"/>
              </a:rPr>
              <a:t>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394960"/>
            <a:ext cx="2286000" cy="73152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Palatino"/>
              </a:rPr>
              <a:t>O₃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188720"/>
            <a:ext cx="301752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325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08E00"/>
                </a:solidFill>
                <a:latin typeface="Calibri"/>
              </a:rPr>
              <a:t>FOG NODE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1920240"/>
            <a:ext cx="2651760" cy="749808"/>
          </a:xfrm>
          <a:prstGeom prst="roundRect">
            <a:avLst/>
          </a:prstGeom>
          <a:solidFill>
            <a:srgbClr val="E0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92024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Flask 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24028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E9C2"/>
                </a:solidFill>
                <a:latin typeface="Calibri"/>
              </a:rPr>
              <a:t>/sensor-data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788920"/>
            <a:ext cx="2651760" cy="749808"/>
          </a:xfrm>
          <a:prstGeom prst="roundRect">
            <a:avLst/>
          </a:prstGeom>
          <a:solidFill>
            <a:srgbClr val="E0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78892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Rolling deque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10896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E9C2"/>
                </a:solidFill>
                <a:latin typeface="Calibri"/>
              </a:rPr>
              <a:t>size=20 per sensor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657600"/>
            <a:ext cx="2651760" cy="749808"/>
          </a:xfrm>
          <a:prstGeom prst="roundRect">
            <a:avLst/>
          </a:prstGeom>
          <a:solidFill>
            <a:srgbClr val="E0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65760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AQI compute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977639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E9C2"/>
                </a:solidFill>
                <a:latin typeface="Calibri"/>
              </a:rPr>
              <a:t>EPA breakpoints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4526279"/>
            <a:ext cx="2651760" cy="749808"/>
          </a:xfrm>
          <a:prstGeom prst="roundRect">
            <a:avLst/>
          </a:prstGeom>
          <a:solidFill>
            <a:srgbClr val="E0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4526279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Z-score flag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8463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E9C2"/>
                </a:solidFill>
                <a:latin typeface="Calibri"/>
              </a:rPr>
              <a:t>κ=2.5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5394960"/>
            <a:ext cx="2651760" cy="749808"/>
          </a:xfrm>
          <a:prstGeom prst="roundRect">
            <a:avLst/>
          </a:prstGeom>
          <a:solidFill>
            <a:srgbClr val="E0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539496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Dispatch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715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FFE9C2"/>
                </a:solidFill>
                <a:latin typeface="Calibri"/>
              </a:rPr>
              <a:t>batched POST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1188720"/>
            <a:ext cx="5212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3258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C5F2D"/>
                </a:solidFill>
                <a:latin typeface="Calibri"/>
              </a:rPr>
              <a:t>CLOUD LAYER (AWS)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2280" y="1874519"/>
            <a:ext cx="4754880" cy="585216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1874519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2587752"/>
            <a:ext cx="4754880" cy="585216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2587752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Lambda: IngestToQueue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3300984"/>
            <a:ext cx="4754880" cy="585216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3300984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Amazon SQS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2280" y="4014215"/>
            <a:ext cx="4754880" cy="585216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4014215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Lambda: ProcessQueueToDB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12280" y="4727448"/>
            <a:ext cx="4754880" cy="585216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4727448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Amazon DynamoDB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0" y="5440680"/>
            <a:ext cx="4754880" cy="585216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5440680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S3 dashboard + SSE stream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A0E"/>
                </a:solidFill>
                <a:latin typeface="Palatino"/>
              </a:rPr>
              <a:t>Edge analytics: AQI + Z-score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48640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Calibri"/>
              </a:rPr>
              <a:t>AQI (US-EPA breakpoint)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5029200" cy="1463040"/>
          </a:xfrm>
          <a:prstGeom prst="roundRect">
            <a:avLst/>
          </a:prstGeom>
          <a:solidFill>
            <a:srgbClr val="0F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I = (I_hi - I_lo) / (C_hi - C_lo)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   * (C - C_lo) + I_lo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93776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F2A1E"/>
                </a:solidFill>
                <a:latin typeface="Calibri"/>
              </a:rPr>
              <a:t>• Linear interpolation between concentration breakpoints.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F2A1E"/>
                </a:solidFill>
                <a:latin typeface="Calibri"/>
              </a:rPr>
              <a:t>• Category labels: Good → Moderate → Unhealthy → Hazardous.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F2A1E"/>
                </a:solidFill>
                <a:latin typeface="Calibri"/>
              </a:rPr>
              <a:t>• Per-sensor breakpoint tables (PM, NO₂, CO, O₃).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F2A1E"/>
                </a:solidFill>
                <a:latin typeface="Calibri"/>
              </a:rPr>
              <a:t>• Computed at the fog layer — no cloud round-trip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9496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8E00"/>
                </a:solidFill>
                <a:latin typeface="Calibri"/>
              </a:rPr>
              <a:t>Anomaly (rolling Z-score)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874519"/>
            <a:ext cx="4937760" cy="1188720"/>
          </a:xfrm>
          <a:prstGeom prst="roundRect">
            <a:avLst/>
          </a:prstGeom>
          <a:solidFill>
            <a:srgbClr val="0F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10312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onsolas"/>
              </a:rPr>
              <a:t>|x - mu| &gt; k * sigma,  k = 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46120"/>
            <a:ext cx="484632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F2A1E"/>
                </a:solidFill>
                <a:latin typeface="Calibri"/>
              </a:rPr>
              <a:t>• Rolling deque size W = 20 per sensor.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F2A1E"/>
                </a:solidFill>
                <a:latin typeface="Calibri"/>
              </a:rPr>
              <a:t>• μ, σ computed on the fly each tick.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F2A1E"/>
                </a:solidFill>
                <a:latin typeface="Calibri"/>
              </a:rPr>
              <a:t>• κ configurable per pollutant — avoids false positives in rush hour.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F2A1E"/>
                </a:solidFill>
                <a:latin typeface="Calibri"/>
              </a:rPr>
              <a:t>• Flag attached to payload before cloud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97BC62"/>
                </a:solidFill>
                <a:latin typeface="Palatino"/>
              </a:rPr>
              <a:t>Smart city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FE3B3"/>
                </a:solidFill>
                <a:latin typeface="Calibri"/>
              </a:rPr>
              <a:t>Live AQI by pollutant, category chips, and five Chart.js lines.</a:t>
            </a:r>
          </a:p>
        </p:txBody>
      </p:sp>
      <p:pic>
        <p:nvPicPr>
          <p:cNvPr id="5" name="Picture 4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5061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A0E"/>
                </a:solidFill>
                <a:latin typeface="Palatino"/>
              </a:rPr>
              <a:t>Sensor simulator running</a:t>
            </a:r>
          </a:p>
        </p:txBody>
      </p:sp>
      <p:pic>
        <p:nvPicPr>
          <p:cNvPr id="5" name="Picture 4" descr="sensor_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49440" cy="47280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371600"/>
            <a:ext cx="39319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508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Calibri"/>
              </a:rPr>
              <a:t>AQI labelling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874519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1E"/>
                </a:solidFill>
                <a:latin typeface="Calibri"/>
              </a:rPr>
              <a:t>Each reading tagged Good / Moderate / Unhealthy / Hazardous.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017520"/>
            <a:ext cx="39319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31546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Calibri"/>
              </a:rPr>
              <a:t>Realistic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20439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1E"/>
                </a:solidFill>
                <a:latin typeface="Calibri"/>
              </a:rPr>
              <a:t>Gaussian noise + rush-hour peaks + rare spikes.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663440"/>
            <a:ext cx="39319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800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Calibri"/>
              </a:rPr>
              <a:t>Own cadences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6636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1E"/>
                </a:solidFill>
                <a:latin typeface="Calibri"/>
              </a:rPr>
              <a:t>Five threads, five dispatch intervals.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F1A0E"/>
                </a:solidFill>
                <a:latin typeface="Palatino"/>
              </a:rPr>
              <a:t>Fog node dispatch + retry</a:t>
            </a:r>
          </a:p>
        </p:txBody>
      </p:sp>
      <p:pic>
        <p:nvPicPr>
          <p:cNvPr id="5" name="Picture 4" descr="fog_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49440" cy="49196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371600"/>
            <a:ext cx="39319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508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8E00"/>
                </a:solidFill>
                <a:latin typeface="Calibri"/>
              </a:rPr>
              <a:t>Batches of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874519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1E"/>
                </a:solidFill>
                <a:latin typeface="Calibri"/>
              </a:rPr>
              <a:t>5 processed readings per dispatch.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017520"/>
            <a:ext cx="39319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31546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8E00"/>
                </a:solidFill>
                <a:latin typeface="Calibri"/>
              </a:rPr>
              <a:t>Retry semantics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20439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1E"/>
                </a:solidFill>
                <a:latin typeface="Calibri"/>
              </a:rPr>
              <a:t>3 retries on 202 / 5xx before dropping.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663440"/>
            <a:ext cx="393192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800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08E00"/>
                </a:solidFill>
                <a:latin typeface="Calibri"/>
              </a:rPr>
              <a:t>Back-pressure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16636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A1E"/>
                </a:solidFill>
                <a:latin typeface="Calibri"/>
              </a:rPr>
              <a:t>Warnings logged when backend is slow.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alatino"/>
              </a:rPr>
              <a:t>Scalable serverless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5778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39"/>
            <a:ext cx="5212080" cy="82296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39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Competing consumers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1E"/>
                </a:solidFill>
                <a:latin typeface="Calibri"/>
              </a:rPr>
              <a:t>SQS decouples ingest and storage; Lambda scales with message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280160"/>
            <a:ext cx="55778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463039"/>
            <a:ext cx="5212080" cy="82296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39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PAY_PER_REQUEST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42316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1E"/>
                </a:solidFill>
                <a:latin typeface="Calibri"/>
              </a:rPr>
              <a:t>DynamoDB auto-scales read/write units; zero idle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5778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212080" cy="82296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SSE over polling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07492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1E"/>
                </a:solidFill>
                <a:latin typeface="Calibri"/>
              </a:rPr>
              <a:t>Push real-time updates to the dashboard with one line of JS.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931920"/>
            <a:ext cx="55778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4114800"/>
            <a:ext cx="5212080" cy="82296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IAM least privilege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507492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1E"/>
                </a:solidFill>
                <a:latin typeface="Calibri"/>
              </a:rPr>
              <a:t>Per-Lambda roles: SQS-only, Dynamo-only, read-only.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97BC62"/>
                </a:solidFill>
                <a:latin typeface="Palatino"/>
              </a:rPr>
              <a:t>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743200" cy="301752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F1A0E"/>
                </a:solidFill>
                <a:latin typeface="Palatino"/>
              </a:rPr>
              <a:t>&lt; 2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1A0E"/>
                </a:solidFill>
                <a:latin typeface="Calibri"/>
              </a:rPr>
              <a:t>SSE local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743200" cy="3017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alatino"/>
              </a:rPr>
              <a:t>&lt; 4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260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CFE3B3"/>
                </a:solidFill>
                <a:latin typeface="Calibri"/>
              </a:rPr>
              <a:t>Cloud polled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2743200" cy="3017520"/>
          </a:xfrm>
          <a:prstGeom prst="roundRect">
            <a:avLst/>
          </a:prstGeom>
          <a:solidFill>
            <a:srgbClr val="E0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F1A0E"/>
                </a:solidFill>
                <a:latin typeface="Palatino"/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9260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1A0E"/>
                </a:solidFill>
                <a:latin typeface="Calibri"/>
              </a:rPr>
              <a:t>delivery via retries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554480"/>
            <a:ext cx="2743200" cy="301752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8288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0F1A0E"/>
                </a:solidFill>
                <a:latin typeface="Palatino"/>
              </a:rPr>
              <a:t>$0.28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92608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1A0E"/>
                </a:solidFill>
                <a:latin typeface="Calibri"/>
              </a:rPr>
              <a:t>monthly AWS cost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0E180B"/>
          </a:solidFill>
          <a:ln w="1524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7BC62"/>
                </a:solidFill>
                <a:latin typeface="Calibri"/>
              </a:rPr>
              <a:t>Headline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Georgia"/>
              </a:rPr>
              <a:t>Edge analytics cut bandwidth and latency; serverless scale-out handles load with zero 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Palatino"/>
              </a:rPr>
              <a:t>Hardest problem → my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03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08E00"/>
                </a:solidFill>
                <a:latin typeface="Calibri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93776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F2A1E"/>
                </a:solidFill>
                <a:latin typeface="Calibri"/>
              </a:rPr>
              <a:t>• Rush-hour peaks looked like anomalies.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F2A1E"/>
                </a:solidFill>
                <a:latin typeface="Calibri"/>
              </a:rPr>
              <a:t>• Too low κ → false positives; too high → missed spikes.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1F2A1E"/>
                </a:solidFill>
                <a:latin typeface="Calibri"/>
              </a:rPr>
              <a:t>• Intermittent backend → retries needed 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577840" cy="5029200"/>
          </a:xfrm>
          <a:prstGeom prst="roundRect">
            <a:avLst/>
          </a:prstGeom>
          <a:solidFill>
            <a:srgbClr val="0F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97BC62"/>
                </a:solidFill>
                <a:latin typeface="Calibri"/>
              </a:rPr>
              <a:t>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51206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κ is a per-sensor config setting, not a global constant.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Fold time-of-day factor into the baseline before Z-score.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Exponential back-off + 3-try dispatch with structured logs.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SQS + DynamoDB retry catches the rest.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Palatino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 i="1">
                <a:solidFill>
                  <a:srgbClr val="97BC62"/>
                </a:solidFill>
                <a:latin typeface="Georgia"/>
              </a:rPr>
              <a:t>Questions ·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CFE3B3"/>
                </a:solidFill>
                <a:latin typeface="Calibri"/>
              </a:rPr>
              <a:t>Pavan · H9FECC · NCI MSc Cloud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